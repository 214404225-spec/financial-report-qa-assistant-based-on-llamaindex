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90" autoAdjust="0"/>
  </p:normalViewPr>
  <p:slideViewPr>
    <p:cSldViewPr snapToGrid="0">
      <p:cViewPr varScale="1">
        <p:scale>
          <a:sx n="83" d="100"/>
          <a:sy n="83" d="100"/>
        </p:scale>
        <p:origin x="65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2.jpe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3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3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9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eg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.jpe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jpeg"/><Relationship Id="rId7" Type="http://schemas.openxmlformats.org/officeDocument/2006/relationships/image" Target="../media/image38.svg"/><Relationship Id="rId12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30" b="30"/>
          <a:stretch>
            <a:fillRect/>
          </a:stretch>
        </p:blipFill>
        <p:spPr>
          <a:xfrm>
            <a:off x="1930400" y="0"/>
            <a:ext cx="10274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95" b="95"/>
          <a:stretch>
            <a:fillRect/>
          </a:stretch>
        </p:blipFill>
        <p:spPr>
          <a:xfrm>
            <a:off x="1701800" y="1143000"/>
            <a:ext cx="8318500" cy="217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0" y="3543301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Insight: Financial Report Analysis Engine based on </a:t>
            </a:r>
            <a:r>
              <a:rPr lang="en-US" sz="2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LlamaIndex</a:t>
            </a:r>
            <a:endParaRPr lang="en-US" sz="1100" b="1" dirty="0"/>
          </a:p>
        </p:txBody>
      </p:sp>
      <p:sp>
        <p:nvSpPr>
          <p:cNvPr id="6" name="AutoShape 6"/>
          <p:cNvSpPr/>
          <p:nvPr/>
        </p:nvSpPr>
        <p:spPr>
          <a:xfrm>
            <a:off x="0" y="482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CS6493 NLP Final Project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Completed by Wang </a:t>
            </a:r>
            <a:r>
              <a:rPr lang="en-US" sz="18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Hongyuan</a:t>
            </a:r>
            <a:r>
              <a:rPr lang="en-US" sz="18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, Zhang Jiajun, Wang </a:t>
            </a:r>
            <a:r>
              <a:rPr lang="en-US" sz="1800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Y</a:t>
            </a:r>
            <a:r>
              <a:rPr lang="en-US" sz="18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ixin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08000" y="1524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5461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8500" y="2667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4C8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2730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Background &amp; Tech Stack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The Challenges of Financial Analysis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Why RAG?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Tech Stack: The Engine Room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540000"/>
            <a:ext cx="5461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13500" y="2667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4C8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556500" y="2730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Architecture &amp; Core Modules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200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Architecture Overview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Data Ingestion &amp; Retrieval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Generation Engine &amp; UI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8000" y="4699000"/>
            <a:ext cx="5461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98500" y="4826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4C8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841500" y="4889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Evaluation &amp; Experiment Results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Localized RAGAS Evaluation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Experiment Results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4699000"/>
            <a:ext cx="5461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13500" y="4826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4C8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556500" y="4889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Conclusion &amp; Future Work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Key Contributions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555A64"/>
                </a:solidFill>
                <a:latin typeface="Noto Sans SC"/>
                <a:ea typeface="Noto Sans SC"/>
                <a:cs typeface="Noto Sans SC"/>
                <a:sym typeface="Noto Sans SC"/>
              </a:rPr>
              <a:t>•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640" b="16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114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800" b="1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28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The Challenges of Financial Analysis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8620" r="8620"/>
          <a:stretch>
            <a:fillRect/>
          </a:stretch>
        </p:blipFill>
        <p:spPr>
          <a:xfrm>
            <a:off x="508000" y="2286000"/>
            <a:ext cx="4064000" cy="3683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953000" y="2159000"/>
            <a:ext cx="673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9700" y="2552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096000" y="2286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Information Overload &amp; Efficiency Bottlenecks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953000" y="3683000"/>
            <a:ext cx="673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4064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096000" y="3937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High Demand for Timeliness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953000" y="5207000"/>
            <a:ext cx="6731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2400" y="56007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096000" y="5334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Data Privacy &amp; Security</a:t>
            </a:r>
            <a:endParaRPr lang="en-US" sz="1100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E6B6C3F7-A626-FE42-6CF8-33E69FE573D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03" b="203"/>
          <a:stretch>
            <a:fillRect/>
          </a:stretch>
        </p:blipFill>
        <p:spPr>
          <a:xfrm>
            <a:off x="0" y="17145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1270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01. Why RAG over Fine-tuning?</a:t>
            </a:r>
            <a:endParaRPr lang="en-US" sz="11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550" y="37719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1150" y="38227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Knowledge Update</a:t>
            </a:r>
            <a:b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Instantaneity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37719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72100" y="38227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Cost-Effectiveness</a:t>
            </a:r>
            <a:endParaRPr lang="en-US" sz="1100"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99450" y="37211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9188450" y="38227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Reduction of</a:t>
            </a:r>
            <a:b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Hallucination</a:t>
            </a:r>
            <a:endParaRPr lang="en-US" sz="1100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BC26FF84-14AC-CABA-3A83-139121989CE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68300" y="1143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23456"/>
                </a:solidFill>
                <a:latin typeface="Noto Sans SC"/>
                <a:ea typeface="Noto Sans SC"/>
                <a:cs typeface="Noto Sans SC"/>
                <a:sym typeface="Noto Sans SC"/>
              </a:rPr>
              <a:t>01. Tech Stack: The Engine Room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2159000"/>
            <a:ext cx="21590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30373" r="30373"/>
          <a:stretch>
            <a:fillRect/>
          </a:stretch>
        </p:blipFill>
        <p:spPr>
          <a:xfrm>
            <a:off x="571500" y="2413000"/>
            <a:ext cx="1778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08000" y="3556000"/>
            <a:ext cx="190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AD"/>
                </a:solidFill>
                <a:latin typeface="Noto Sans SC"/>
                <a:ea typeface="Noto Sans SC"/>
                <a:cs typeface="Noto Sans SC"/>
                <a:sym typeface="Noto Sans SC"/>
              </a:rPr>
              <a:t>Core Framework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LlamaIndex v0.10+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Foundation for orchestrating data pipelines and connecting to LLMs.</a:t>
            </a:r>
          </a:p>
        </p:txBody>
      </p:sp>
      <p:sp>
        <p:nvSpPr>
          <p:cNvPr id="7" name="AutoShape 7"/>
          <p:cNvSpPr/>
          <p:nvPr/>
        </p:nvSpPr>
        <p:spPr>
          <a:xfrm>
            <a:off x="2730500" y="2159000"/>
            <a:ext cx="21590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16666" b="16666"/>
          <a:stretch>
            <a:fillRect/>
          </a:stretch>
        </p:blipFill>
        <p:spPr>
          <a:xfrm>
            <a:off x="3048000" y="2413000"/>
            <a:ext cx="1524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2857500" y="3556000"/>
            <a:ext cx="190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AD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Database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ChromaDB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Lightweight, in-memory DB for storing and retrieving vector embeddings efficiently.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0" y="2159000"/>
            <a:ext cx="21590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l="4208" r="4208"/>
          <a:stretch>
            <a:fillRect/>
          </a:stretch>
        </p:blipFill>
        <p:spPr>
          <a:xfrm>
            <a:off x="5270500" y="2413000"/>
            <a:ext cx="1778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207000" y="3556000"/>
            <a:ext cx="190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AD"/>
                </a:solidFill>
                <a:latin typeface="Noto Sans SC"/>
                <a:ea typeface="Noto Sans SC"/>
                <a:cs typeface="Noto Sans SC"/>
                <a:sym typeface="Noto Sans SC"/>
              </a:rPr>
              <a:t>AI Models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Qwen2.5-7B (Gen) / 72B (Eval)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Embedding: BGE-M3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Reranker: BGE-Reranker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429500" y="2159000"/>
            <a:ext cx="21590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t="16666" b="16666"/>
          <a:stretch>
            <a:fillRect/>
          </a:stretch>
        </p:blipFill>
        <p:spPr>
          <a:xfrm>
            <a:off x="7747000" y="2413000"/>
            <a:ext cx="1524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556500" y="3556000"/>
            <a:ext cx="190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AD"/>
                </a:solidFill>
                <a:latin typeface="Noto Sans SC"/>
                <a:ea typeface="Noto Sans SC"/>
                <a:cs typeface="Noto Sans SC"/>
                <a:sym typeface="Noto Sans SC"/>
              </a:rPr>
              <a:t>Pipeline &amp; Interface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Frontend: Gradio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PDF Parsing: PyMuPDF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Evaluation: RAGAS</a:t>
            </a:r>
          </a:p>
        </p:txBody>
      </p:sp>
      <p:sp>
        <p:nvSpPr>
          <p:cNvPr id="16" name="AutoShape 16"/>
          <p:cNvSpPr/>
          <p:nvPr/>
        </p:nvSpPr>
        <p:spPr>
          <a:xfrm>
            <a:off x="9779000" y="2159000"/>
            <a:ext cx="21590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t="2592" b="2592"/>
          <a:stretch>
            <a:fillRect/>
          </a:stretch>
        </p:blipFill>
        <p:spPr>
          <a:xfrm>
            <a:off x="9906000" y="2413000"/>
            <a:ext cx="1905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906000" y="3556000"/>
            <a:ext cx="1905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5DAD"/>
                </a:solidFill>
                <a:latin typeface="Noto Sans SC"/>
                <a:ea typeface="Noto Sans SC"/>
                <a:cs typeface="Noto Sans SC"/>
                <a:sym typeface="Noto Sans SC"/>
              </a:rPr>
              <a:t>Hardware Infrastructure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Apple Mac Studio M3 Ultra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512GB RAM &amp; MPS Acceleration for fast local inference.</a:t>
            </a:r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F576166F-C96B-A457-9D89-CE75071190B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68300" y="1460500"/>
            <a:ext cx="11455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02. System Architecture Overview</a:t>
            </a:r>
            <a:endParaRPr lang="en-US" sz="11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C0C9CDD-20B2-D965-6DEE-971648614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2349500"/>
            <a:ext cx="12192000" cy="32062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68300" y="1460500"/>
            <a:ext cx="11455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02. Data Ingestion &amp; Retrieval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5461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2794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76860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Data Ingestion Optimization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4953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•Metadata Contract: 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Enforce 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source 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and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page_label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for full traceability of every generated response.</a:t>
            </a:r>
            <a:endParaRPr lang="en-US" sz="1600" dirty="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Chunking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Strategy: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Utilize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semantic chunking (BGE-M3) to preserve logical coherence, which is critical for causal reasoning tasks.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RAPTOR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Index: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Construct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 hierarchical knowledge structure to support efficient macro summarization across large documents.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540000"/>
            <a:ext cx="5461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794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768600"/>
            <a:ext cx="444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Retrieval Strategy Optimization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556000"/>
            <a:ext cx="4953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Hybrid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Retrieval: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Combine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the strengths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of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vector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search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(capturing semantic similarity) and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BM25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(lexical keyword matching) to achieve more robust and comprehensive recall.</a:t>
            </a:r>
            <a:endParaRPr lang="en-US" sz="1600" dirty="0"/>
          </a:p>
          <a:p>
            <a:pPr indent="0" algn="l">
              <a:lnSpc>
                <a:spcPct val="133333"/>
              </a:lnSpc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Engineering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Optimization: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Implement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 global singleton cache for the BM25 inverted index matrix and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Reranker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model, enabling zero-latency reuse and significantly faster overall system response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68300" y="1333500"/>
            <a:ext cx="11468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02. Generation Engine &amp; UI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3843" r="23843"/>
          <a:stretch>
            <a:fillRect/>
          </a:stretch>
        </p:blipFill>
        <p:spPr>
          <a:xfrm>
            <a:off x="279400" y="317500"/>
            <a:ext cx="1524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06400" y="2413000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EFF6FF">
              <a:alpha val="95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96900" y="2667000"/>
            <a:ext cx="3175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Triple Defense Against Hallucination</a:t>
            </a:r>
            <a:endParaRPr lang="en-US" sz="16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1. Strict Source Constraint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mandates answers only from provided excerpts.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2. Graceful Refusal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Model states inability to answer if context is insufficient.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3. Proactive Conflict Detection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Flags and presents conflicting data from multiple sources.</a:t>
            </a:r>
          </a:p>
        </p:txBody>
      </p:sp>
      <p:sp>
        <p:nvSpPr>
          <p:cNvPr id="7" name="AutoShape 7"/>
          <p:cNvSpPr/>
          <p:nvPr/>
        </p:nvSpPr>
        <p:spPr>
          <a:xfrm>
            <a:off x="4318000" y="2413000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ECFDF5">
              <a:alpha val="95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08500" y="2667000"/>
            <a:ext cx="3175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📑 Citation &amp; Audit</a:t>
            </a:r>
            <a:endParaRPr lang="en-US" sz="1600" dirty="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Forced Citations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Every answer includes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[Source: filename, Page X]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to trace origin.</a:t>
            </a:r>
          </a:p>
          <a:p>
            <a:pPr indent="0" algn="l">
              <a:lnSpc>
                <a:spcPct val="125000"/>
              </a:lnSpc>
              <a:spcBef>
                <a:spcPts val="20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Citation Audit Module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Intercepts </a:t>
            </a:r>
            <a:r>
              <a:rPr lang="en-US" sz="1600" b="1" i="0" u="none" strike="noStrike" dirty="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97% 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of fake citations, ensuring data authenticity.</a:t>
            </a:r>
          </a:p>
        </p:txBody>
      </p:sp>
      <p:sp>
        <p:nvSpPr>
          <p:cNvPr id="9" name="AutoShape 9"/>
          <p:cNvSpPr/>
          <p:nvPr/>
        </p:nvSpPr>
        <p:spPr>
          <a:xfrm>
            <a:off x="8229600" y="2413000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FFFBEB">
              <a:alpha val="95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420100" y="2667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🖥️ Immersive </a:t>
            </a:r>
            <a:r>
              <a:rPr lang="en-US" sz="1600" b="1" i="0" u="none" strike="noStrike" dirty="0" err="1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Gradio</a:t>
            </a:r>
            <a:r>
              <a:rPr lang="en-US" sz="1600" b="1" i="0" u="none" strike="noStrike" dirty="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 UI</a:t>
            </a:r>
            <a:endParaRPr lang="en-US" sz="16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 three-panel layout designed for seamless user experience: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Document Management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Chat &amp; Evidence Display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One-click PDF Source Jumping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5000" b="4999"/>
          <a:stretch>
            <a:fillRect/>
          </a:stretch>
        </p:blipFill>
        <p:spPr>
          <a:xfrm>
            <a:off x="8737600" y="4635500"/>
            <a:ext cx="2540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B63904E7-9AAA-8398-B7F4-2D47D7B5A0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08000" y="1651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03. Evaluation &amp; Experiment Results</a:t>
            </a:r>
            <a:endParaRPr lang="en-US" sz="11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 t="3789" b="3789"/>
          <a:stretch>
            <a:fillRect/>
          </a:stretch>
        </p:blipFill>
        <p:spPr>
          <a:xfrm>
            <a:off x="3683000" y="2895600"/>
            <a:ext cx="482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68300" y="1143000"/>
            <a:ext cx="11468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03. Localized RAGAS Evaluation Loop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79" b="79"/>
          <a:stretch>
            <a:fillRect/>
          </a:stretch>
        </p:blipFill>
        <p:spPr>
          <a:xfrm>
            <a:off x="279400" y="190500"/>
            <a:ext cx="1524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2286000"/>
            <a:ext cx="3556000" cy="4064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8500" y="236656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4B93"/>
                </a:solidFill>
                <a:latin typeface="Noto Sans SC"/>
                <a:ea typeface="Noto Sans SC"/>
                <a:cs typeface="Noto Sans SC"/>
                <a:sym typeface="Noto Sans SC"/>
              </a:rPr>
              <a:t>🤖 LLM-as-a-Judge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98500" y="3302000"/>
            <a:ext cx="3175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To ensure an impartial and robust assessment of system performance, we leverage the high-performance </a:t>
            </a: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Qwen2.5-72B 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model as an automated judge. This model evaluates the quality of generated outputs against a set of predefined standards.</a:t>
            </a:r>
            <a:endParaRPr lang="en-US" sz="1600" dirty="0"/>
          </a:p>
        </p:txBody>
      </p:sp>
      <p:sp>
        <p:nvSpPr>
          <p:cNvPr id="8" name="AutoShape 8"/>
          <p:cNvSpPr/>
          <p:nvPr/>
        </p:nvSpPr>
        <p:spPr>
          <a:xfrm>
            <a:off x="4318000" y="2286000"/>
            <a:ext cx="3556000" cy="4064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14850" y="23241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4B93"/>
                </a:solidFill>
                <a:latin typeface="Noto Sans SC"/>
                <a:ea typeface="Noto Sans SC"/>
                <a:cs typeface="Noto Sans SC"/>
                <a:sym typeface="Noto Sans SC"/>
              </a:rPr>
              <a:t>📊 Core Metrics (0.0-1.0)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508500" y="3302000"/>
            <a:ext cx="3175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spcBef>
                <a:spcPts val="800"/>
              </a:spcBef>
              <a:defRPr/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1. Context Precision: 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Measures how relevant the retrieved context is to the original question.</a:t>
            </a:r>
            <a:endParaRPr lang="en-US" sz="1600" dirty="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2. Faithfulness: 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Determines if the answer is factually grounded and consistent with the provided context.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3. Answer Relevancy: 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Assesses the degree to which the generated answer directly addresses the question.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2286000"/>
            <a:ext cx="3556000" cy="4064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18500" y="2339264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4B93"/>
                </a:solidFill>
                <a:latin typeface="Noto Sans SC"/>
                <a:ea typeface="Noto Sans SC"/>
                <a:cs typeface="Noto Sans SC"/>
                <a:sym typeface="Noto Sans SC"/>
              </a:rPr>
              <a:t>🧪 Experimental Design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8318500" y="3302000"/>
            <a:ext cx="3175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spcBef>
                <a:spcPts val="500"/>
              </a:spcBef>
              <a:defRPr/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Gold Test Set: 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 curated set of 20 diverse questions, covering Factoid Extraction, Causal Reasoning, Macro Summarization, and Structured Artifact Generation.</a:t>
            </a:r>
            <a:endParaRPr lang="en-US" sz="1600" dirty="0"/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6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Ablation Study: 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Comparative analysis across three distinct system configurations: </a:t>
            </a:r>
            <a:r>
              <a:rPr lang="en-US" sz="1600" b="1" i="0" u="none" strike="noStrike" dirty="0">
                <a:solidFill>
                  <a:srgbClr val="004B93"/>
                </a:solidFill>
                <a:latin typeface="Noto Sans SC"/>
                <a:ea typeface="Noto Sans SC"/>
                <a:cs typeface="Noto Sans SC"/>
                <a:sym typeface="Noto Sans SC"/>
              </a:rPr>
              <a:t>Baseline, Advanced, and Ultimate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6E2A0A3D-8EF8-D27D-D4BE-378589B894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68300" y="1333500"/>
            <a:ext cx="11468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Experimental Results &amp; Analysis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266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2641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6E99"/>
                </a:solidFill>
                <a:latin typeface="Noto Sans SC"/>
                <a:ea typeface="Noto Sans SC"/>
                <a:cs typeface="Noto Sans SC"/>
                <a:sym typeface="Noto Sans SC"/>
              </a:rPr>
              <a:t>Quantitative Results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3302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 Precision: 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Baseline (0.82) → Ultimate (</a:t>
            </a:r>
            <a:r>
              <a:rPr lang="en-US" sz="1600" b="1" i="0" u="none" strike="noStrike" dirty="0">
                <a:solidFill>
                  <a:srgbClr val="D9480F"/>
                </a:solidFill>
                <a:latin typeface="Noto Sans SC"/>
                <a:ea typeface="Noto Sans SC"/>
                <a:cs typeface="Noto Sans SC"/>
                <a:sym typeface="Noto Sans SC"/>
              </a:rPr>
              <a:t>0.91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600" dirty="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Faithfulness: 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Baseline (0.78) → Ultimate (</a:t>
            </a:r>
            <a:r>
              <a:rPr lang="en-US" sz="1600" b="1" i="0" u="none" strike="noStrike" dirty="0">
                <a:solidFill>
                  <a:srgbClr val="D9480F"/>
                </a:solidFill>
                <a:latin typeface="Noto Sans SC"/>
                <a:ea typeface="Noto Sans SC"/>
                <a:cs typeface="Noto Sans SC"/>
                <a:sym typeface="Noto Sans SC"/>
              </a:rPr>
              <a:t>0.88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600" b="0" i="1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"The results show clear, measurable gains from each optimization strategy implemented."</a:t>
            </a:r>
          </a:p>
        </p:txBody>
      </p:sp>
      <p:sp>
        <p:nvSpPr>
          <p:cNvPr id="9" name="AutoShape 9"/>
          <p:cNvSpPr/>
          <p:nvPr/>
        </p:nvSpPr>
        <p:spPr>
          <a:xfrm>
            <a:off x="4318000" y="2413000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8500" y="2667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2641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6E99"/>
                </a:solidFill>
                <a:latin typeface="Noto Sans SC"/>
                <a:ea typeface="Noto Sans SC"/>
                <a:cs typeface="Noto Sans SC"/>
                <a:sym typeface="Noto Sans SC"/>
              </a:rPr>
              <a:t>Strategy Analysis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3302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Baseline: 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Struggles with macro summarization due to rigid, fixed chunking.</a:t>
            </a:r>
            <a:endParaRPr lang="en-US" sz="16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1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Advanced: 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Significant improvement across all question types, particularly in causal reasoning.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1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Ultimate: 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Establishes an </a:t>
            </a:r>
            <a:r>
              <a:rPr lang="en-US" sz="1600" b="1" i="0" u="none" strike="noStrike" dirty="0">
                <a:solidFill>
                  <a:srgbClr val="D9480F"/>
                </a:solidFill>
                <a:latin typeface="Noto Sans SC"/>
                <a:ea typeface="Noto Sans SC"/>
                <a:cs typeface="Noto Sans SC"/>
                <a:sym typeface="Noto Sans SC"/>
              </a:rPr>
              <a:t>absolute advantage 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in complex macro summarization tasks.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2413000"/>
            <a:ext cx="3556000" cy="3937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D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18500" y="266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63000" y="2641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6E99"/>
                </a:solidFill>
                <a:latin typeface="Noto Sans SC"/>
                <a:ea typeface="Noto Sans SC"/>
                <a:cs typeface="Noto Sans SC"/>
                <a:sym typeface="Noto Sans SC"/>
              </a:rPr>
              <a:t>Verifiability Metrics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302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Citation Jump Success Rate:</a:t>
            </a:r>
            <a:r>
              <a:rPr lang="en-US" sz="1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96%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(Target ≥ 95%)</a:t>
            </a:r>
            <a:endParaRPr lang="en-US" sz="16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Citation Page Accuracy:</a:t>
            </a:r>
            <a:r>
              <a:rPr lang="en-US" sz="1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92%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(Target ≥ 90%)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Fake Citation Interception:</a:t>
            </a:r>
            <a:r>
              <a:rPr lang="en-US" sz="1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97%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(Target ≥ 95%)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600" b="0" i="1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"All metrics consistently meet or exceed preset quality assurance targets."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9C795D5E-9AB4-E247-4692-1617A73B0971}"/>
              </a:ext>
            </a:extLst>
          </p:cNvPr>
          <p:cNvSpPr/>
          <p:nvPr/>
        </p:nvSpPr>
        <p:spPr>
          <a:xfrm>
            <a:off x="368300" y="1295400"/>
            <a:ext cx="11468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03. Experiment Results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68300" y="1333500"/>
            <a:ext cx="114681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04. Key Contributions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2413000"/>
            <a:ext cx="5334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" y="2730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6670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4C81"/>
                </a:solidFill>
                <a:latin typeface="Noto Sans SC"/>
                <a:ea typeface="Noto Sans SC"/>
                <a:cs typeface="Noto Sans SC"/>
                <a:sym typeface="Noto Sans SC"/>
              </a:rPr>
              <a:t>End-to-End Integration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Successfully built a complete RAG system with a closed-loop workflow, seamlessly connecting the stages from document ingestion to retrieval-augmented generation and comprehensive system evaluation.</a:t>
            </a:r>
          </a:p>
        </p:txBody>
      </p:sp>
      <p:sp>
        <p:nvSpPr>
          <p:cNvPr id="7" name="AutoShape 7"/>
          <p:cNvSpPr/>
          <p:nvPr/>
        </p:nvSpPr>
        <p:spPr>
          <a:xfrm>
            <a:off x="6248400" y="2413000"/>
            <a:ext cx="5334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2400" y="273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26670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44E16"/>
                </a:solidFill>
                <a:latin typeface="Noto Sans SC"/>
                <a:ea typeface="Noto Sans SC"/>
                <a:cs typeface="Noto Sans SC"/>
                <a:sym typeface="Noto Sans SC"/>
              </a:rPr>
              <a:t>Technical Innovations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Adaptive Semantic Chunking &amp; Dual-path Hybrid Retrieval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RAPTOR Hierarchical Summarization for complex reasoning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Page-level Citation &amp; Traceability for answer trustworthiness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09600" y="4572000"/>
            <a:ext cx="5334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600" y="4889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73200" y="48260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Localized Evaluation System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Established a fully offline "LLM-as-a-Judge" system for reliable performance measurement. It enables us to rigorously assess the quality of generated answers, relevance of retrieved documents, and overall system accuracy.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48400" y="4572000"/>
            <a:ext cx="5334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02400" y="488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48260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Complete Analyst Workflow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Delivered a user-friendly Gradio frontend that supports a seamless experience from initial Q&amp;A to evidence verification and source exploration, fully aligning with the needs of professional analysts.</a:t>
            </a: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AE2C5940-BAA3-C348-F989-4DE155FFEF4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26" b="26"/>
          <a:stretch>
            <a:fillRect/>
          </a:stretch>
        </p:blipFill>
        <p:spPr>
          <a:xfrm>
            <a:off x="406400" y="0"/>
            <a:ext cx="117983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203" b="203"/>
          <a:stretch>
            <a:fillRect/>
          </a:stretch>
        </p:blipFill>
        <p:spPr>
          <a:xfrm>
            <a:off x="279400" y="114300"/>
            <a:ext cx="4533900" cy="1181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368300" y="1397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04. Future </a:t>
            </a:r>
            <a:r>
              <a:rPr 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Directions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24180" y="2349500"/>
            <a:ext cx="5532119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1" y="2476500"/>
            <a:ext cx="5321298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103680"/>
                </a:solidFill>
                <a:latin typeface="Noto Sans SC"/>
                <a:ea typeface="Noto Sans SC"/>
                <a:cs typeface="Noto Sans SC"/>
                <a:sym typeface="Noto Sans SC"/>
              </a:rPr>
              <a:t>Multimodal Capabilities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Extend the system to understand and analyze charts, graphs, and tables in financial reports.</a:t>
            </a:r>
          </a:p>
        </p:txBody>
      </p:sp>
      <p:sp>
        <p:nvSpPr>
          <p:cNvPr id="8" name="AutoShape 8"/>
          <p:cNvSpPr/>
          <p:nvPr/>
        </p:nvSpPr>
        <p:spPr>
          <a:xfrm>
            <a:off x="6278881" y="2339340"/>
            <a:ext cx="5532119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532880" y="2476500"/>
            <a:ext cx="527812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103680"/>
                </a:solidFill>
                <a:latin typeface="Noto Sans SC"/>
                <a:ea typeface="Noto Sans SC"/>
                <a:cs typeface="Noto Sans SC"/>
                <a:sym typeface="Noto Sans SC"/>
              </a:rPr>
              <a:t>Real-time Data Integration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Connect to live data sources like Yahoo Finance or Bloomberg for dynamic market context.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06400" y="3937000"/>
            <a:ext cx="5549899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1" y="4074160"/>
            <a:ext cx="5321298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103680"/>
                </a:solidFill>
                <a:latin typeface="Noto Sans SC"/>
                <a:ea typeface="Noto Sans SC"/>
                <a:cs typeface="Noto Sans SC"/>
                <a:sym typeface="Noto Sans SC"/>
              </a:rPr>
              <a:t>Personalized Recommendations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Intelligently recommend relevant report sections or analysis angles based on user history.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78881" y="3937000"/>
            <a:ext cx="5532119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32880" y="4064000"/>
            <a:ext cx="525272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103680"/>
                </a:solidFill>
                <a:latin typeface="Noto Sans SC"/>
                <a:ea typeface="Noto Sans SC"/>
                <a:cs typeface="Noto Sans SC"/>
                <a:sym typeface="Noto Sans SC"/>
              </a:rPr>
              <a:t>Multilingual Support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Extend support to analyze reports in Chinese, English, and other languages.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24180" y="5397500"/>
            <a:ext cx="1138682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35001" y="5524500"/>
            <a:ext cx="10985499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103680"/>
                </a:solidFill>
                <a:latin typeface="Noto Sans SC"/>
                <a:ea typeface="Noto Sans SC"/>
                <a:cs typeface="Noto Sans SC"/>
                <a:sym typeface="Noto Sans SC"/>
              </a:rPr>
              <a:t>Domain Expansion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Apply the technical framework to other vertical domains like healthcare, law, and technology, broadening the scope of document intelligence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905000" y="2667000"/>
            <a:ext cx="838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B60007"/>
                </a:solidFill>
                <a:latin typeface="Arial"/>
                <a:ea typeface="Arial"/>
                <a:cs typeface="Arial"/>
                <a:sym typeface="Arial"/>
              </a:rPr>
              <a:t>Thank You for Listening!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1047</Words>
  <Application>Microsoft Office PowerPoint</Application>
  <PresentationFormat>宽屏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汪 鸿源</cp:lastModifiedBy>
  <cp:revision>47</cp:revision>
  <dcterms:modified xsi:type="dcterms:W3CDTF">2026-05-05T22:21:03Z</dcterms:modified>
</cp:coreProperties>
</file>